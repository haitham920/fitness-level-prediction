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493" autoAdjust="0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8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800" b="0" i="0" u="none" strike="noStrike">
                <a:solidFill>
                  <a:srgbClr val="000000"/>
                </a:solidFill>
                <a:latin typeface="Arial"/>
              </a:rPr>
              <a:t>F1 Macro — Model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Macro Score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AC8-4D3A-903E-534575EA7258}"/>
              </c:ext>
            </c:extLst>
          </c:dPt>
          <c:dPt>
            <c:idx val="1"/>
            <c:invertIfNegative val="0"/>
            <c:bubble3D val="0"/>
            <c:spPr>
              <a:solidFill>
                <a:srgbClr val="1A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AC8-4D3A-903E-534575EA7258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AC8-4D3A-903E-534575EA725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LightGBM Proxy</c:v>
                </c:pt>
                <c:pt idx="2">
                  <c:v>Tuned RF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0.94</c:v>
                </c:pt>
                <c:pt idx="1">
                  <c:v>0.95</c:v>
                </c:pt>
                <c:pt idx="2">
                  <c:v>0.95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AC8-4D3A-903E-534575EA72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800" b="0" i="0" u="none" strike="noStrike">
                <a:solidFill>
                  <a:srgbClr val="000000"/>
                </a:solidFill>
                <a:latin typeface="Arial"/>
              </a:rPr>
              <a:t>F1 vs Sample Size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Macro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50K</c:v>
                </c:pt>
                <c:pt idx="1">
                  <c:v>100K</c:v>
                </c:pt>
                <c:pt idx="2">
                  <c:v>250K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0.91</c:v>
                </c:pt>
                <c:pt idx="1">
                  <c:v>0.93</c:v>
                </c:pt>
                <c:pt idx="2">
                  <c:v>0.94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AC0-42D5-9746-896B36654C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6"/>
          <c:min val="0.8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800" b="0" i="0" u="none" strike="noStrike" dirty="0">
                <a:solidFill>
                  <a:srgbClr val="000000"/>
                </a:solidFill>
                <a:latin typeface="Arial"/>
              </a:rPr>
              <a:t>Top 10 Features (RF, excl. fitness_score)</a:t>
            </a:r>
          </a:p>
        </c:rich>
      </c:tx>
      <c:layout>
        <c:manualLayout>
          <c:xMode val="edge"/>
          <c:yMode val="edge"/>
          <c:x val="0.2221401018054561"/>
          <c:y val="2.0080321285140562E-2"/>
        </c:manualLayout>
      </c:layout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delete val="1"/>
          </c:dLbls>
          <c:cat>
            <c:strRef>
              <c:f>Sheet1!$A$2:$A$11</c:f>
              <c:strCache>
                <c:ptCount val="10"/>
                <c:pt idx="0">
                  <c:v>steps_per_day</c:v>
                </c:pt>
                <c:pt idx="1">
                  <c:v>active_minutes</c:v>
                </c:pt>
                <c:pt idx="2">
                  <c:v>consistency_score</c:v>
                </c:pt>
                <c:pt idx="3">
                  <c:v>workouts_per_week</c:v>
                </c:pt>
                <c:pt idx="4">
                  <c:v>sedentary_minutes</c:v>
                </c:pt>
                <c:pt idx="5">
                  <c:v>heart_rate_resting</c:v>
                </c:pt>
                <c:pt idx="6">
                  <c:v>bmi</c:v>
                </c:pt>
                <c:pt idx="7">
                  <c:v>sleep_hours</c:v>
                </c:pt>
                <c:pt idx="8">
                  <c:v>stress_level</c:v>
                </c:pt>
                <c:pt idx="9">
                  <c:v>diet_quality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0.18</c:v>
                </c:pt>
                <c:pt idx="1">
                  <c:v>0.16</c:v>
                </c:pt>
                <c:pt idx="2">
                  <c:v>0.14000000000000001</c:v>
                </c:pt>
                <c:pt idx="3">
                  <c:v>0.12</c:v>
                </c:pt>
                <c:pt idx="4">
                  <c:v>0.1</c:v>
                </c:pt>
                <c:pt idx="5">
                  <c:v>0.09</c:v>
                </c:pt>
                <c:pt idx="6">
                  <c:v>0.08</c:v>
                </c:pt>
                <c:pt idx="7">
                  <c:v>0.06</c:v>
                </c:pt>
                <c:pt idx="8">
                  <c:v>0.04</c:v>
                </c:pt>
                <c:pt idx="9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D8-4563-B0D7-CA97805394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9572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64008" cy="5143500"/>
          </a:xfrm>
          <a:prstGeom prst="rect">
            <a:avLst/>
          </a:prstGeom>
          <a:solidFill>
            <a:srgbClr val="14B8A6">
              <a:alpha val="6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286000"/>
            <a:ext cx="2743200" cy="27432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00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 BUSINESS SCHOOL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8686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Level Prediction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on Synthetic Health Indicators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267712"/>
            <a:ext cx="4114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68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Amine Bessaad  •  Haitham Maatar  •  Jasser Sghaier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Lassad El Moubarki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090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27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 – 2026  |  Data Mining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46405"/>
            <a:ext cx="8503920" cy="4571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197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70432" y="11795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4721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size, owner &amp; previous Kaggle work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84248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70432" y="20208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2313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and real-world impact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25496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25496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70432" y="28620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70432" y="31546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approaches and how ours differs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666744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66744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721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70432" y="37033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Pipeline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70432" y="39959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→ Preprocessing → Modeling → Tuning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14300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143000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1197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59552" y="11795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59552" y="14721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code sections explained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1984248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1984248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559552" y="20208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Model Comparison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59552" y="2313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 scores, feature importance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2825496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2825496"/>
            <a:ext cx="6400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0912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559552" y="28620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Limitations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59552" y="31546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and future directions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Health Indicators Dataset — Kaggle (parasharmanu)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46405"/>
            <a:ext cx="8366760" cy="4571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192024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051560"/>
            <a:ext cx="192024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0972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0604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192024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0972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051560"/>
            <a:ext cx="192024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0972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0372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148840"/>
            <a:ext cx="4846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148840"/>
            <a:ext cx="64008" cy="2606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254203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steps_per_day — daily step count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" y="274777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active_minutes — daily active minutes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" y="29535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sleep_hours / sleep_quality — rest metrics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" y="315925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— body mass index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" y="336499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heart_rate_resting — cardiovascular indicator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" y="357073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workouts_per_week — training frequency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8368" y="377647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stress_level / diet_quality — lifestyle factors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" y="39822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sedentary_minutes — inactivity measure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" y="418795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consistency_score — habit consistency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8368" y="439369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lifestyle_category — categorical lifestyle label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0" y="2148840"/>
            <a:ext cx="3337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0" y="2148840"/>
            <a:ext cx="6400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87568" y="22128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&amp; License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87568" y="2487168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 Parashar
</a:t>
            </a: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License: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CC0 — Public Domain
</a:t>
            </a: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Hosted: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0" y="3456432"/>
            <a:ext cx="33375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0" y="3456432"/>
            <a:ext cx="64008" cy="12984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87568" y="3520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87568" y="3822192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fitness_level  →  3 classes:
  🔴 Unfit  (0)  •  🟡 Moderate  (1)  •  🟢 Fit  (2)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predicting fitness level matters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46405"/>
            <a:ext cx="8458200" cy="4571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15568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15568"/>
            <a:ext cx="41148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61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Global Health Crisis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52704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reports physical inactivity as the 4th leading risk factor for global mortality, linked to 3.2 M deaths annually. Chronic diseases like diabetes and cardiovascular disorders are accelerating worldwide.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15568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15568"/>
            <a:ext cx="4114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161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Economic Burden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52704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inactivity costs the global economy over $67.5B per year in direct healthcare costs and lost productivity — a burden that preventive analytics can help reduce.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35808"/>
            <a:ext cx="4114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081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ML Opportunity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44728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devices and health apps generate vast amounts of behavioral data. ML models can convert raw health metrics into actionable, personalized fitness classifications at scale.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035808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3035808"/>
            <a:ext cx="411480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3081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Our Goal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44728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multi-class classifier that predicts whether an individual is Unfit, Moderate, or Fit — enabling early intervention, personalized plans, and data-driven health coaching.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&amp; Our Differentiation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studies in fitness/health ML classification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320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822960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78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/ Source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07792" y="1078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/ Size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28032" y="1078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05472" y="1078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99032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417320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IJPREMS (2025)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Fitness Tracking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07792" y="1417320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500 samples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28032" y="1417320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RF, LR, SVM, KNN,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05472" y="1417320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RF: 92.3% Acc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965960"/>
            <a:ext cx="8229600" cy="54864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1984248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Frontiers / PMC (2025)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Activity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07792" y="1984248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students survey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28032" y="1984248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RF, XGBoost,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05472" y="1984248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SHAP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532888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551176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PLOS ONE (2023)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Fitness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07792" y="2551176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exam 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 indicators)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28032" y="2551176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classifiers incl.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RF, SVM, DT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05472" y="2551176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SVM top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099816"/>
            <a:ext cx="8229600" cy="54864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118104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 HRV Study (2025)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Athletics Profiling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07792" y="3118104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Athletes + non-athletes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~1,350 samples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28032" y="3118104"/>
            <a:ext cx="2267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RF, XGBoost, SVM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05472" y="3118104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RF: 92% Acc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730752"/>
            <a:ext cx="8229600" cy="1185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730752"/>
            <a:ext cx="64008" cy="11856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37856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Our Approach Differs &amp; Improves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368" y="4078224"/>
            <a:ext cx="7863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Scale: We train on 250,000 samples vs 500–1,350 in most prior works — enabling statistically robust conclusions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58368" y="4233672"/>
            <a:ext cx="7863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Custom SMOTE: We implement a from-scratch SMOTE function for minority class balancing, not just class_weight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58368" y="4389120"/>
            <a:ext cx="7863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Feature Engineering: We design a weighted composite fitness_score to enrich feature space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58368" y="4544568"/>
            <a:ext cx="7863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Leakage Audit: We explicitly analyze feature importance with/without the engineered feature to detect data leakage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58368" y="4700016"/>
            <a:ext cx="7863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Sampling Sensitivity: We test model performance across 3 different sample sizes (50K, 100K, 250K) — rarely done in prior work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machine learning workflow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3088" y="946404"/>
            <a:ext cx="8400288" cy="4571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115568" cy="1280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4300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810512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Sampling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81328" y="1709928"/>
            <a:ext cx="9144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2768" y="1097280"/>
            <a:ext cx="1115568" cy="12801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72768" y="114300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72768" y="153619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72768" y="1810512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88336" y="1709928"/>
            <a:ext cx="9144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79776" y="1083564"/>
            <a:ext cx="1115568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79776" y="114300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779776" y="153619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79776" y="1798191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Encoding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95344" y="1709928"/>
            <a:ext cx="9144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86784" y="1085404"/>
            <a:ext cx="1115568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21" name="Text 19"/>
          <p:cNvSpPr/>
          <p:nvPr/>
        </p:nvSpPr>
        <p:spPr>
          <a:xfrm>
            <a:off x="3986784" y="114300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986784" y="153619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986784" y="1800121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02352" y="1709928"/>
            <a:ext cx="9144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93792" y="1097280"/>
            <a:ext cx="1115568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193792" y="114300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193792" y="153619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93792" y="1810512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1709928"/>
            <a:ext cx="9144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1097280"/>
            <a:ext cx="1115568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0" y="114300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400800" y="153619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00800" y="1810512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516368" y="1709928"/>
            <a:ext cx="9144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07808" y="1097280"/>
            <a:ext cx="1115568" cy="1280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607808" y="114300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607808" y="153619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607808" y="1810512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Tuning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542032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5760" y="2542032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259689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&amp; Sampling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0352" y="2871216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rows loaded; stratified sample of 250,000 preserving fitness_level class balance using train_test_split with stratify parameter.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560320" y="2542032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560320" y="2542032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24912" y="259689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724912" y="2871216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distribution, histograms, boxplots per class, correlation heatmap, violinplots. Identifies key discriminating features (steps, BMI, resting HR).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86884" y="2551176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54880" y="2542032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9472" y="259689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919472" y="2871216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composite fitness_score (steps 25%, active_min 20%, sleep 15%, diet 15%, workouts 10%, sedentary -10%, stress -10%). 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949440" y="2542032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949440" y="2542032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14032" y="259689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114032" y="2871216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for lifestyle_category. Target mapped: Unfit→0, Moderate→1, Fit→2. StandardScaler on train/test split.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65760" y="3776472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65760" y="3776472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0352" y="383133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SMOTE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30352" y="4105656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Interpolation-based oversampling for minority class Fit (class 2). Balances training distribution without importing imbalanced-learn.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560320" y="3776472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2560320" y="3776472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24912" y="383133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724912" y="4105656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(300 trees, max_depth 20, balanced weights). HistGradientBoosting as LightGBM proxy (200 iters, lr 0.1, depth 7).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754880" y="3776472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754880" y="3776472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19472" y="383133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&amp; Evaluation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919472" y="4105656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(6 iterations, 2-fold CV). Cross-validation with StratifiedKFold (3 splits). Accuracy + F1-macro as metrics.</a:t>
            </a:r>
            <a:endParaRPr lang="en-US" sz="9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895A424-51B1-4820-89DD-A46BCA252D62}"/>
              </a:ext>
            </a:extLst>
          </p:cNvPr>
          <p:cNvSpPr txBox="1"/>
          <p:nvPr/>
        </p:nvSpPr>
        <p:spPr>
          <a:xfrm>
            <a:off x="4059936" y="1786925"/>
            <a:ext cx="950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GB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— Part 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EDA &amp; feature engineering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46405"/>
            <a:ext cx="8285480" cy="4571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2468" y="1051560"/>
            <a:ext cx="4058920" cy="2402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155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Stratified sampling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27558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df, _ = train_test_split(
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df_full,
    train_size=</a:t>
            </a: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250_000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stratify=df_full[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"fitness_level"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1407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Composite fitness score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830069"/>
            <a:ext cx="342900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df["fitness_score"] = (    </a:t>
            </a: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0.25 * minmax(df["</a:t>
            </a:r>
            <a:r>
              <a:rPr lang="en-US" sz="800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steps_per_day</a:t>
            </a:r>
            <a:r>
              <a:rPr lang="en-US" sz="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"]) +    </a:t>
            </a: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 * minmax(df["</a:t>
            </a:r>
            <a:r>
              <a:rPr lang="en-US" sz="800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active_minutes</a:t>
            </a:r>
            <a:r>
              <a:rPr lang="en-US" sz="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"]) +    </a:t>
            </a: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 * (df["</a:t>
            </a:r>
            <a:r>
              <a:rPr lang="en-US" sz="800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sleep_quality</a:t>
            </a:r>
            <a:r>
              <a:rPr lang="en-US" sz="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 / 10) +    </a:t>
            </a: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 * (df["</a:t>
            </a:r>
            <a:r>
              <a:rPr lang="en-US" sz="800" dirty="0" err="1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diet_quality</a:t>
            </a:r>
            <a:r>
              <a:rPr lang="en-US" sz="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 / 10) +    </a:t>
            </a: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 * (df["</a:t>
            </a:r>
            <a:r>
              <a:rPr lang="en-US" sz="800" dirty="0" err="1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workouts_per_week</a:t>
            </a:r>
            <a:r>
              <a:rPr lang="en-US" sz="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 / 7) +    </a:t>
            </a: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 * (1 - minmax(df["</a:t>
            </a:r>
            <a:r>
              <a:rPr lang="en-US" sz="800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sedentary_minutes</a:t>
            </a:r>
            <a:r>
              <a:rPr lang="en-US" sz="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"])) +</a:t>
            </a: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 * (1 - df["</a:t>
            </a:r>
            <a:r>
              <a:rPr lang="en-US" sz="800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stress_level</a:t>
            </a:r>
            <a:r>
              <a:rPr lang="en-US" sz="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 / 10)</a:t>
            </a: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987800" cy="2402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79" y="1051560"/>
            <a:ext cx="127001" cy="2402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115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56048" y="14081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sampling ensures class proportions are preserved when reducing 1M rows to 250K. This prevents class imbalance from being amplified by random sampling.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56048" y="1801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composite fitness_score aggregates 7 behavioral signals into one engineered feature using domain-weighted linear combination.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56048" y="2194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features (sedentary_minutes, stress_level) ensure higher scores always mean 'more fit' — enabling interpretable directionality.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56048" y="2587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calories_burned prevents target leakage, as it is directly computable from fitness level.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2468" y="3454400"/>
            <a:ext cx="830021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1" y="34178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Key Findings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6758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Steps / Active Min: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visual separation between Fit vs Unfit in boxplots — most discriminative features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6758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BMI &amp; Resting HR: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BMI and resting HR strongly associated with Unfit class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2245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Correlation Heatmap: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multicollinearity between active_minutes and steps_per_day; no single dominant feature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42245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Violin plots: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distributions hint at latent sub-groups — motivates classifier over regression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— Part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SMOTE, model definitions &amp; cross-validation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827532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4114800" cy="20162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15568"/>
            <a:ext cx="3840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900" dirty="0" err="1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simple_smote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(X, y, 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minority_class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=2):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np.array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(X)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np.array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(y)</a:t>
            </a:r>
          </a:p>
          <a:p>
            <a:pPr marL="0" indent="0">
              <a:buNone/>
            </a:pP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X_min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X[y == 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minority_class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</a:p>
          <a:p>
            <a:pPr marL="0" indent="0">
              <a:buNone/>
            </a:pP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n_synth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(X) - 2 * 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X_min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 = []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_ in range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n_synth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j = 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np.random.randint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 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X_min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2)       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lam = 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np.random.rand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synth.append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X_min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+ lam * (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X_min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[j] - 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X_min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]))    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X_new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np.vstack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([X, synth])</a:t>
            </a:r>
          </a:p>
          <a:p>
            <a:pPr marL="0" indent="0">
              <a:buNone/>
            </a:pP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y_new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np.hstack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([y, 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np.full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(synth), 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minority_class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)])    return 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X_new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y_new</a:t>
            </a:r>
            <a:endParaRPr lang="en-US" sz="900" dirty="0">
              <a:solidFill>
                <a:schemeClr val="bg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X_train_sm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y_train_sm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simple_smote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y_train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3977640" cy="20162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51560"/>
            <a:ext cx="64008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56048" y="1115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SMOTE — Why?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56048" y="14173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problem: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'Fit' class (2) is underrepresented. Without balancing, models bias toward majority classes.
</a:t>
            </a: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SMOTE works: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Interpolates synthetic samples between two random minority-class neighbors using a random blend factor λ.
</a:t>
            </a: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vs library: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understanding of the algorithm's internals vs black-box use of imbalanced-learn.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127248"/>
            <a:ext cx="827532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154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Definitions &amp; Rationale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56432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456432"/>
            <a:ext cx="40233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9300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822192"/>
            <a:ext cx="3767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</a:t>
            </a: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n_estimators=300, max_depth=20,
min_samples_leaf=5, max_features='sqrt'
class_weight='balanced'
</a:t>
            </a: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chosen: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non-linear boundaries well. Resistant to overfitting with depth constraints. Native feature importance for interpretability. Balanced weights handle remaining class skew.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3456432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456432"/>
            <a:ext cx="4023360" cy="3200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49300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(LightGBM proxy)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18888" y="3822192"/>
            <a:ext cx="3767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</a:t>
            </a: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max_depth=7, learning_rate=0.1
max_iter=200
</a:t>
            </a: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chosen: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Histogram-based boosting — fast and memory-efficient on large datasets. Sequentially corrects errors from prior trees. Strong on tabular data with mixed feature types.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Model Comparison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across models and sample sizes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320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2560320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155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Macro: ~0.94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560320" cy="1417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1155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Proxy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(HistGBM)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5087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91840" y="1938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Macro: ~0.95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560320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1155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RF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(Best params)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5087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26480" y="1938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Macro: ~0.95</a:t>
            </a:r>
            <a:endParaRPr lang="en-US" sz="11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457200" y="260604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"/>
          <p:cNvGraphicFramePr/>
          <p:nvPr/>
        </p:nvGraphicFramePr>
        <p:xfrm>
          <a:off x="4754880" y="2606040"/>
          <a:ext cx="39319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Leakage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fitness level prediction?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320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00736400"/>
              </p:ext>
            </p:extLst>
          </p:nvPr>
        </p:nvGraphicFramePr>
        <p:xfrm>
          <a:off x="457200" y="1051560"/>
          <a:ext cx="502920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051560"/>
            <a:ext cx="3017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0" y="1051560"/>
            <a:ext cx="64008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70448" y="11155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70448" y="13898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metrics (steps, active minutes) dominate over biological ones (BMI, HR)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70448" y="17282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consistency_score ranks 3rd — habit patterns matter as much as intensity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70448" y="206654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&amp; dietary features have moderate but non-trivial impact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70448" y="24048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&amp; sleep are lower-ranked but contextually important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0" y="3017520"/>
            <a:ext cx="3017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69280" y="3017520"/>
            <a:ext cx="64008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70448" y="30815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Audit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70448" y="3364992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calories_burned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DROPPED
Directly derivable from fitness level; including it would inflate accuracy artificially.
</a:t>
            </a: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fitness_score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ISOLATED
Excluded from the leakage interpretation chart. Its importance is analyzed separately to prevent confounding the raw feature analysis.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Applications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 to real-world impact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23544"/>
            <a:ext cx="8458200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15568"/>
            <a:ext cx="41148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15568"/>
            <a:ext cx="41148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612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Fitness Apps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499616"/>
            <a:ext cx="3858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Auto-classify users into Unfit/Moderate/Fit tiers, enabling personalized workout recommendations and adaptive goal-setting within health tracking applications.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115568"/>
            <a:ext cx="41148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15568"/>
            <a:ext cx="4114800" cy="3200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612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Preventive Healthcare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0328" y="1499616"/>
            <a:ext cx="3858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at-risk individuals (Unfit tier) early for proactive outreach by healthcare providers — reducing hospitalization costs through timely lifestyle interventions.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15768"/>
            <a:ext cx="41148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15768"/>
            <a:ext cx="41148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614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Corporate Wellness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3099816"/>
            <a:ext cx="3858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can assess workforce fitness trends anonymously and design targeted wellness programs, reducing sick days and improving productivity.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715768"/>
            <a:ext cx="41148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715768"/>
            <a:ext cx="411480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7614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 Gym &amp; Coaching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0328" y="3099816"/>
            <a:ext cx="3858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trainers can onboard clients with an objective baseline classification, track tier progression over time, and justify coaching ROI with data.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370832"/>
            <a:ext cx="8458200" cy="274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3982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681728"/>
            <a:ext cx="7863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Synthetic data — patterns may not perfectly reflect real-world health complexity or population heterogeneity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4782312"/>
            <a:ext cx="7863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No temporal/longitudinal data — cannot model fitness trajectory or change over time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4882896"/>
            <a:ext cx="7863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SMOTE applied only to training set — evaluation remains on original distribution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4983480"/>
            <a:ext cx="7863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No deep learning models tested (MLP, LSTM) — potential for further accuracy gains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932688"/>
            <a:ext cx="8046720" cy="640080"/>
          </a:xfrm>
          <a:prstGeom prst="rect">
            <a:avLst/>
          </a:prstGeom>
          <a:solidFill>
            <a:srgbClr val="1A3A6B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0424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04241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~95–96% accuracy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250K samples using RF + HistGBM ensemble models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682496"/>
            <a:ext cx="8046720" cy="640080"/>
          </a:xfrm>
          <a:prstGeom prst="rect">
            <a:avLst/>
          </a:prstGeom>
          <a:solidFill>
            <a:srgbClr val="1A3A6B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9222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79222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→ Feature Engineering → SMOTE → Tuning — all implemented from scratch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432304"/>
            <a:ext cx="8046720" cy="640080"/>
          </a:xfrm>
          <a:prstGeom prst="rect">
            <a:avLst/>
          </a:prstGeom>
          <a:solidFill>
            <a:srgbClr val="1A3A6B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420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5420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awareness: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audit of calories_burned and fitness_score validates result integrity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182112"/>
            <a:ext cx="8046720" cy="640080"/>
          </a:xfrm>
          <a:prstGeom prst="rect">
            <a:avLst/>
          </a:prstGeom>
          <a:solidFill>
            <a:srgbClr val="1A3A6B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291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3291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advantage: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250K sample size significantly outperforms prior small-sample studies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8046720" cy="640080"/>
          </a:xfrm>
          <a:prstGeom prst="rect">
            <a:avLst/>
          </a:prstGeom>
          <a:solidFill>
            <a:srgbClr val="1A3A6B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0416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40416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patient data, SHAP explanations, deep learning models, longitudinal tracking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2057</Words>
  <Application>Microsoft Office PowerPoint</Application>
  <PresentationFormat>On-screen Show (16:9)</PresentationFormat>
  <Paragraphs>259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Fitness Level Prediction - Data Mining Project</dc:title>
  <dc:subject>PptxGenJS Presentation</dc:subject>
  <dc:creator>PptxGenJS</dc:creator>
  <cp:lastModifiedBy>haitham maatar</cp:lastModifiedBy>
  <cp:revision>7</cp:revision>
  <dcterms:created xsi:type="dcterms:W3CDTF">2026-04-22T19:24:32Z</dcterms:created>
  <dcterms:modified xsi:type="dcterms:W3CDTF">2026-04-23T01:39:08Z</dcterms:modified>
</cp:coreProperties>
</file>